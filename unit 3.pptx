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4630400" cy="8229600"/>
  <p:notesSz cx="8229600" cy="14630400"/>
  <p:embeddedFontLst>
    <p:embeddedFont>
      <p:font typeface="DM Sans" pitchFamily="2" charset="0"/>
      <p:regular r:id="rId13"/>
      <p:bold r:id="rId14"/>
      <p:italic r:id="rId15"/>
    </p:embeddedFont>
    <p:embeddedFont>
      <p:font typeface="PT Serif" panose="020A0603040505020204" pitchFamily="18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50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569720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K-Nearest Neighbors (KNN) Algorithm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3398401"/>
            <a:ext cx="3578066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29878" y="3466386"/>
            <a:ext cx="330588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UNIT 3 · CLASSIFICATION &amp; PREDICTION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50607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JIYA CHAUDHARY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67880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RA2311003030560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2968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CSE CORE 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05585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KNN?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280190" y="314027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KNN (K-Nearest Neighbors) is a </a:t>
            </a:r>
            <a:r>
              <a:rPr lang="en-US" sz="175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supervised learning algorithm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used for both classification and regression. It makes predictions based on </a:t>
            </a:r>
            <a:r>
              <a:rPr lang="en-US" sz="1750" dirty="0">
                <a:solidFill>
                  <a:srgbClr val="E04F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similarity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— the idea that data points close to each other in a feature space likely belong to the same class.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80190" y="4847034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5191125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09344" y="5069423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Core principle:</a:t>
            </a: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KNN predicts the output by looking at the nearest known data points. "Nearby points decide the class."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65190"/>
            <a:ext cx="5395912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How KNN Works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9376" y="1612225"/>
            <a:ext cx="131916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KNN follows a simple, four-step process to classify a new data point.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988" y="2135267"/>
            <a:ext cx="10258425" cy="469487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28495" y="3307451"/>
            <a:ext cx="659559" cy="6595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40869" y="5511204"/>
            <a:ext cx="1925913" cy="77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Assign Majority</a:t>
            </a:r>
            <a:endParaRPr lang="en-US" sz="2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3889" y="3308687"/>
            <a:ext cx="659560" cy="6595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3690" y="5511204"/>
            <a:ext cx="1925914" cy="77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Find K Nearest</a:t>
            </a:r>
            <a:endParaRPr lang="en-US" sz="2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9902" y="3308687"/>
            <a:ext cx="659560" cy="6595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99703" y="5511204"/>
            <a:ext cx="1925913" cy="77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Calculate Distances</a:t>
            </a:r>
            <a:endParaRPr lang="en-US" sz="2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2723" y="3308687"/>
            <a:ext cx="659559" cy="6595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732951" y="5705980"/>
            <a:ext cx="1925914" cy="389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Choose K</a:t>
            </a:r>
            <a:endParaRPr lang="en-US" sz="2450" dirty="0"/>
          </a:p>
        </p:txBody>
      </p:sp>
      <p:sp>
        <p:nvSpPr>
          <p:cNvPr id="13" name="Text 6"/>
          <p:cNvSpPr/>
          <p:nvPr/>
        </p:nvSpPr>
        <p:spPr>
          <a:xfrm>
            <a:off x="719376" y="7039689"/>
            <a:ext cx="1319164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The algorithm is </a:t>
            </a:r>
            <a:r>
              <a:rPr lang="en-US" sz="160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lazy</a:t>
            </a:r>
            <a:r>
              <a:rPr lang="en-US" sz="16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— it stores all training data and only computes when a new prediction is needed. No complex model is built in advance.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540306"/>
            <a:ext cx="6836212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KNN in Action: A Worked Example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1433274"/>
            <a:ext cx="7484507" cy="49896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53193" y="331660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Suppose K = 3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353193" y="3723084"/>
            <a:ext cx="38385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 new point (★) needs to be classified. KNN finds the </a:t>
            </a:r>
            <a:r>
              <a:rPr lang="en-US" sz="1300" dirty="0">
                <a:solidFill>
                  <a:srgbClr val="E04F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3 nearest neighbors</a:t>
            </a:r>
            <a:r>
              <a:rPr lang="en-US" sz="13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353193" y="4314111"/>
            <a:ext cx="38385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Result:</a:t>
            </a:r>
            <a:r>
              <a:rPr lang="en-US" sz="13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2 Red vs 1 Blue → ★ is classified as </a:t>
            </a:r>
            <a:r>
              <a:rPr lang="en-US" sz="1300" b="1" dirty="0">
                <a:solidFill>
                  <a:srgbClr val="E04F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Red</a:t>
            </a:r>
            <a:r>
              <a:rPr lang="en-US" sz="13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446014" y="6709886"/>
            <a:ext cx="3827740" cy="979289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638895" y="690276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Neighbor 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638895" y="7258169"/>
            <a:ext cx="34419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Red class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01270" y="6709886"/>
            <a:ext cx="3827740" cy="979289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94152" y="690276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Neighbor 2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94152" y="7258169"/>
            <a:ext cx="34419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Red class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356527" y="6709886"/>
            <a:ext cx="3827740" cy="979289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549408" y="690276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Neighbor 3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549408" y="7258169"/>
            <a:ext cx="34419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Blue class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2101"/>
            <a:ext cx="790991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Choosing the Right Value of K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699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The value of K is a </a:t>
            </a:r>
            <a:r>
              <a:rPr lang="en-US" sz="175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hyperparameter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you choose before running the algorithm. It directly affects how the model behaves.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388043"/>
            <a:ext cx="13042821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3790" y="3399194"/>
            <a:ext cx="4347567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0604" y="36148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 = 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0604" y="4123015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Very sensitive to noise. The single nearest point decides — can overfit.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41357" y="3388043"/>
            <a:ext cx="4347567" cy="2050494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41357" y="3388043"/>
            <a:ext cx="30480" cy="2050494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68171" y="36148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 = 3 or 5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368171" y="4123015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balanced choice. Smooths out noise while preserving local patterns.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88924" y="3388043"/>
            <a:ext cx="4347567" cy="2050494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488924" y="3388043"/>
            <a:ext cx="30480" cy="2050494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15738" y="36148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 = Large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715738" y="412301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smooth. May underfit by averaging over too many distant points.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693688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037778"/>
            <a:ext cx="283488" cy="22681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30906" y="5977176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Rule of thumb:</a:t>
            </a: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Use an odd value for K in binary classification to avoid tied votes.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594479"/>
            <a:ext cx="10129123" cy="709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Measuring Distance: Euclidean Distance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6642" y="2387203"/>
            <a:ext cx="4248150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KNN relies on </a:t>
            </a:r>
            <a:r>
              <a:rPr lang="en-US" sz="1700" b="1" dirty="0">
                <a:solidFill>
                  <a:srgbClr val="E04F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distance</a:t>
            </a:r>
            <a:r>
              <a:rPr lang="en-US" sz="17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to determine which points are "nearest." The most common metric is </a:t>
            </a:r>
            <a:r>
              <a:rPr lang="en-US" sz="170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Euclidean Distance</a:t>
            </a:r>
            <a:r>
              <a:rPr lang="en-US" sz="17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— the straight-line distance between two points in space.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6642" y="4336852"/>
            <a:ext cx="4248150" cy="39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4336852"/>
            <a:ext cx="4248150" cy="3912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6642" y="4988838"/>
            <a:ext cx="4248150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Example:</a:t>
            </a:r>
            <a:r>
              <a:rPr lang="en-US" sz="17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Point A (−6, −6) and Point B (6, 6) → d ≈ </a:t>
            </a:r>
            <a:r>
              <a:rPr lang="en-US" sz="1700" b="1" dirty="0">
                <a:solidFill>
                  <a:srgbClr val="E04F0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16.97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6642" y="5849779"/>
            <a:ext cx="4248150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Smaller distance = more similar. KNN ranks all points by this value and picks the K smallest.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859" y="1844754"/>
            <a:ext cx="8341519" cy="55609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3105"/>
            <a:ext cx="610731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Other Distance Metrics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1809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Euclidean distance isn't the only option. Depending on your data, other metrics may work better.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799046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6495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Manhattan Distance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15766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Sums absolute differences. Useful in grid-like spaces (e.g., city blocks).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799046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6495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Euclidean Distance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35893" y="515766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Straight-line distance. The default choice for most continuous data.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79904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6495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Chebyshev Distance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77995" y="515766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Takes the maximum difference along any dimension. Useful in chess or warehouse logistics.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295"/>
            <a:ext cx="772894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Advantages &amp; Disadvantages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841183"/>
            <a:ext cx="6407944" cy="1763792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1841183"/>
            <a:ext cx="121920" cy="176379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2098477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✅</a:t>
            </a: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 Simple &amp; Intuitive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2524" y="262187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Easy to understand and implement — no complex mathematics required.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1841183"/>
            <a:ext cx="6408063" cy="1763792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067" y="1841183"/>
            <a:ext cx="121920" cy="176379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7282" y="2098477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✅</a:t>
            </a: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 No Training Phase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7282" y="262187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KNN is a </a:t>
            </a:r>
            <a:r>
              <a:rPr lang="en-US" sz="175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lazy learner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. It stores data and computes only at prediction time.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3831788"/>
            <a:ext cx="6407944" cy="1763792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5363" y="3945195"/>
            <a:ext cx="121920" cy="176379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524" y="4089083"/>
            <a:ext cx="3847624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✅</a:t>
            </a: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Works Well on Small Data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142524" y="4612481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Performs reliably when datasets are small and well-structured.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3831788"/>
            <a:ext cx="6408063" cy="1763792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8067" y="3831788"/>
            <a:ext cx="121920" cy="176379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7282" y="4089083"/>
            <a:ext cx="2983230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⚠️</a:t>
            </a: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 Slow on Large Data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7282" y="4612481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Computes distance to </a:t>
            </a:r>
            <a:r>
              <a:rPr lang="en-US" sz="1750" i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every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point for each prediction — costly at scale.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3790" y="5822394"/>
            <a:ext cx="6407944" cy="1763792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310" y="5822394"/>
            <a:ext cx="121920" cy="176379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2524" y="6079688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⚠️</a:t>
            </a: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 Sensitive to Noise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2524" y="660308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Outliers and irrelevant features can skew results significantly.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822394"/>
            <a:ext cx="6408063" cy="1763792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98067" y="5822394"/>
            <a:ext cx="121920" cy="176379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7282" y="6079688"/>
            <a:ext cx="304811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⚠️</a:t>
            </a: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 Choosing K Matters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77282" y="6603087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 poor K value leads to overfitting or underfitting.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4709"/>
            <a:ext cx="852547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Real-World Applications of KNN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825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KNN is used across many industries thanks to its simplicity and effectiveness.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00651"/>
            <a:ext cx="1341120" cy="8287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412933"/>
            <a:ext cx="304800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Recommendation Systems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293162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Netflix and Amazon use KNN-like methods to suggest content based on similar user behavior.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300651"/>
            <a:ext cx="1341120" cy="8287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44129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Medical Diagnosis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125278" y="4921091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KNN helps classify patient data to assist in diagnosing conditions like diabetes or cancer.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300651"/>
            <a:ext cx="1341120" cy="8287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884" y="44129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Image Classification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456884" y="492109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Identifying objects in images by comparing pixel patterns to labeled examples.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300651"/>
            <a:ext cx="1341120" cy="8287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491" y="44129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Pattern Recognition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0788491" y="4921091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Used in handwriting recognition, speech analysis, and biometric security systems.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59687" y="2816304"/>
            <a:ext cx="631090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Thank You &amp; Questions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9007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3409712" y="4966692"/>
            <a:ext cx="7810976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631</Words>
  <Application>Microsoft Office PowerPoint</Application>
  <PresentationFormat>Custom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PT Serif</vt:lpstr>
      <vt:lpstr>Times New Roman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jiya chaudhary</cp:lastModifiedBy>
  <cp:revision>4</cp:revision>
  <dcterms:created xsi:type="dcterms:W3CDTF">2026-04-14T17:59:29Z</dcterms:created>
  <dcterms:modified xsi:type="dcterms:W3CDTF">2026-04-14T18:13:33Z</dcterms:modified>
</cp:coreProperties>
</file>